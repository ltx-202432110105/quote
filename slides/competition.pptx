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173736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9718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3524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00684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18120" y="15544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321040" y="20116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464040" y="274320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388620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Arc 19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81380" y="1109980"/>
            <a:ext cx="10424160" cy="480060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68680" y="1097280"/>
            <a:ext cx="10424160" cy="48006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7E0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143000" y="1417320"/>
            <a:ext cx="1828800" cy="475488"/>
          </a:xfrm>
          <a:prstGeom prst="roundRect">
            <a:avLst/>
          </a:prstGeom>
          <a:solidFill>
            <a:srgbClr val="E8F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2F6FED"/>
                </a:solidFill>
                <a:latin typeface="Microsoft YaHei"/>
              </a:rPr>
              <a:t>A类赛道路演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2011680"/>
            <a:ext cx="7498079" cy="1737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800" b="1">
                <a:solidFill>
                  <a:srgbClr val="111827"/>
                </a:solidFill>
                <a:latin typeface="Microsoft YaHei"/>
              </a:rPr>
              <a:t>CareerPlanner — 基于 AI 的职业规划智能系统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3840480"/>
            <a:ext cx="78638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4B5563"/>
                </a:solidFill>
                <a:latin typeface="Microsoft YaHei"/>
              </a:rPr>
              <a:t>用 AI 连接学生能力与岗位要求，让每个学生都有专属的数据驱动型职业导师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42300" y="1841500"/>
            <a:ext cx="2697480" cy="256032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229600" y="1828800"/>
            <a:ext cx="2697480" cy="2560320"/>
          </a:xfrm>
          <a:prstGeom prst="roundRect">
            <a:avLst>
              <a:gd name="adj" fmla="val 14000"/>
            </a:avLst>
          </a:prstGeom>
          <a:solidFill>
            <a:srgbClr val="FBFC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11827"/>
                </a:solidFill>
                <a:latin typeface="Microsoft YaHei"/>
              </a:rPr>
              <a:t>队伍</a:t>
            </a:r>
            <a:br/>
            <a:r>
              <a:t>我们叫什么名字</a:t>
            </a:r>
          </a:p>
          <a:p>
            <a:r>
              <a:rPr sz="1200" b="0">
                <a:solidFill>
                  <a:srgbClr val="4B5563"/>
                </a:solidFill>
                <a:latin typeface="Microsoft YaHei"/>
              </a:rPr>
              <a:t>学校</a:t>
            </a:r>
            <a:br/>
            <a:r>
              <a:t>浙江师范大学</a:t>
            </a:r>
          </a:p>
          <a:p>
            <a:r>
              <a:rPr sz="1200" b="0">
                <a:solidFill>
                  <a:srgbClr val="4B5563"/>
                </a:solidFill>
                <a:latin typeface="Microsoft YaHei"/>
              </a:rPr>
              <a:t>赛道</a:t>
            </a:r>
            <a:br/>
            <a:r>
              <a:t>A类</a:t>
            </a:r>
          </a:p>
        </p:txBody>
      </p:sp>
      <p:pic>
        <p:nvPicPr>
          <p:cNvPr id="32" name="Picture 31" descr="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886200"/>
            <a:ext cx="2011680" cy="17784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rc 15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35660" y="1338580"/>
            <a:ext cx="7726679" cy="484632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22960" y="1325880"/>
            <a:ext cx="7726679" cy="484632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目录 / Agenda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89720" y="2331720"/>
            <a:ext cx="1874519" cy="1874519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372600" y="265176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372600" y="297180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372600" y="329184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372600" y="361188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55548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10412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65276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98280" y="4389120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API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875520" y="4462272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098280" y="4700016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Data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875520" y="4773168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5010912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Ops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875520" y="5084064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Arc 38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097280" y="1645920"/>
            <a:ext cx="438912" cy="292608"/>
          </a:xfrm>
          <a:prstGeom prst="roundRect">
            <a:avLst/>
          </a:prstGeom>
          <a:solidFill>
            <a:srgbClr val="E9F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2F6FED"/>
                </a:solidFill>
                <a:latin typeface="Microsoft YaHei"/>
              </a:rPr>
              <a:t>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627632" y="1792224"/>
            <a:ext cx="292608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011680" y="1618488"/>
            <a:ext cx="6126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Microsoft YaHei"/>
              </a:rPr>
              <a:t>封面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97280" y="2176272"/>
            <a:ext cx="438912" cy="292608"/>
          </a:xfrm>
          <a:prstGeom prst="roundRect">
            <a:avLst/>
          </a:prstGeom>
          <a:solidFill>
            <a:srgbClr val="E9F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2F6FED"/>
                </a:solidFill>
                <a:latin typeface="Microsoft YaHei"/>
              </a:rPr>
              <a:t>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627632" y="2322576"/>
            <a:ext cx="292608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011680" y="2148840"/>
            <a:ext cx="6126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Microsoft YaHei"/>
              </a:rPr>
              <a:t>解决方案总览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97280" y="2706624"/>
            <a:ext cx="438912" cy="292608"/>
          </a:xfrm>
          <a:prstGeom prst="roundRect">
            <a:avLst/>
          </a:prstGeom>
          <a:solidFill>
            <a:srgbClr val="E9F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2F6FED"/>
                </a:solidFill>
                <a:latin typeface="Microsoft YaHei"/>
              </a:rPr>
              <a:t>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627632" y="2852928"/>
            <a:ext cx="292608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011680" y="2679192"/>
            <a:ext cx="6126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Microsoft YaHei"/>
              </a:rPr>
              <a:t>解决方案总览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97280" y="3236976"/>
            <a:ext cx="438912" cy="292608"/>
          </a:xfrm>
          <a:prstGeom prst="roundRect">
            <a:avLst/>
          </a:prstGeom>
          <a:solidFill>
            <a:srgbClr val="E9F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2F6FED"/>
                </a:solidFill>
                <a:latin typeface="Microsoft YaHei"/>
              </a:rPr>
              <a:t>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627632" y="3383280"/>
            <a:ext cx="292608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011680" y="3209544"/>
            <a:ext cx="6126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4B5563"/>
                </a:solidFill>
                <a:latin typeface="Microsoft YaHei"/>
              </a:rPr>
              <a:t>核心架构亮点 SSE 流式报告生成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97280" y="3767328"/>
            <a:ext cx="438912" cy="292608"/>
          </a:xfrm>
          <a:prstGeom prst="roundRect">
            <a:avLst/>
          </a:prstGeom>
          <a:solidFill>
            <a:srgbClr val="E9F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2F6FED"/>
                </a:solidFill>
                <a:latin typeface="Microsoft YaHei"/>
              </a:rPr>
              <a:t>5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627632" y="3913632"/>
            <a:ext cx="292608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011680" y="3739896"/>
            <a:ext cx="6126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4B5563"/>
                </a:solidFill>
                <a:latin typeface="Microsoft YaHei"/>
              </a:rPr>
              <a:t>功能一 岗位画像构建（AI 驱动）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097280" y="4297680"/>
            <a:ext cx="438912" cy="292608"/>
          </a:xfrm>
          <a:prstGeom prst="roundRect">
            <a:avLst/>
          </a:prstGeom>
          <a:solidFill>
            <a:srgbClr val="E9F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2F6FED"/>
                </a:solidFill>
                <a:latin typeface="Microsoft YaHei"/>
              </a:rPr>
              <a:t>6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627632" y="4443984"/>
            <a:ext cx="292608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011680" y="4270248"/>
            <a:ext cx="6126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4B5563"/>
                </a:solidFill>
                <a:latin typeface="Microsoft YaHei"/>
              </a:rPr>
              <a:t>功能二 职业图谱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097280" y="4828031"/>
            <a:ext cx="438912" cy="292608"/>
          </a:xfrm>
          <a:prstGeom prst="roundRect">
            <a:avLst/>
          </a:prstGeom>
          <a:solidFill>
            <a:srgbClr val="E9F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2F6FED"/>
                </a:solidFill>
                <a:latin typeface="Microsoft YaHei"/>
              </a:rPr>
              <a:t>7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627632" y="4974335"/>
            <a:ext cx="292608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011680" y="4800599"/>
            <a:ext cx="6126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4B5563"/>
                </a:solidFill>
                <a:latin typeface="Microsoft YaHei"/>
              </a:rPr>
              <a:t>功能二 职业图谱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097280" y="5358383"/>
            <a:ext cx="438912" cy="292608"/>
          </a:xfrm>
          <a:prstGeom prst="roundRect">
            <a:avLst/>
          </a:prstGeom>
          <a:solidFill>
            <a:srgbClr val="E9F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2F6FED"/>
                </a:solidFill>
                <a:latin typeface="Microsoft YaHei"/>
              </a:rPr>
              <a:t>8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627632" y="5504687"/>
            <a:ext cx="292608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011680" y="5330951"/>
            <a:ext cx="6126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4B5563"/>
                </a:solidFill>
                <a:latin typeface="Microsoft YaHei"/>
              </a:rPr>
              <a:t>总结与展望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rc 15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封面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81380" y="14300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68680" y="14173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78408" y="1508760"/>
            <a:ext cx="10204704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4984" y="1545336"/>
            <a:ext cx="326550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痛点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90217" y="1545336"/>
            <a:ext cx="670145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现状描述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4984" y="1947672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信息不对称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90217" y="1947672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学生不了解目标岗位的真实技能要求与竞争力阈值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14984" y="2478024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4984" y="2514600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规划盲目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90217" y="2514600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职业规划缺乏数据支撑，靠“感觉”选方向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14984" y="3044952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4984" y="3081528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资源稀缺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90217" y="3081528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职业咨询师资源有限，无法覆盖每位学生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14984" y="3611880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4984" y="3648456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反馈滞后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90217" y="3648456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传统简历评估周期长，学生无法快速迭代提升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14984" y="4178808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4984" y="4215384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自我认知缺位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90217" y="4215384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学生不了解自身兴趣类型与岗位的匹配关系</a:t>
            </a:r>
          </a:p>
        </p:txBody>
      </p:sp>
      <p:pic>
        <p:nvPicPr>
          <p:cNvPr id="42" name="Picture 41" descr="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1389888"/>
            <a:ext cx="1828800" cy="1616790"/>
          </a:xfrm>
          <a:prstGeom prst="rect">
            <a:avLst/>
          </a:prstGeom>
        </p:spPr>
      </p:pic>
      <p:sp>
        <p:nvSpPr>
          <p:cNvPr id="43" name="Rectangle 42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rc 15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解决方案总览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44220" y="13385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31520" y="13258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093460" y="13385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080760" y="13258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1572768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What：我们做了什么？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CareerPlanner 七大核心能力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• 面向学生：自我测评 → 简历解析 → 岗位匹配 → 图谱探索 → 报告生成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1572768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面向管理员：岗位数据管理 → AI 画像批量生成 → 图谱构建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完整用户旅程：自我认知 → 能力评估 → 职业探索 → 智能匹配 → 规划报告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173736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9718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3524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00684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18120" y="15544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321040" y="20116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464040" y="274320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388620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Arc 19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81380" y="14300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68680" y="1417320"/>
            <a:ext cx="10424160" cy="4663440"/>
          </a:xfrm>
          <a:prstGeom prst="roundRect">
            <a:avLst>
              <a:gd name="adj" fmla="val 12000"/>
            </a:avLst>
          </a:prstGeom>
          <a:solidFill>
            <a:srgbClr val="1F2937"/>
          </a:solidFill>
          <a:ln w="12700">
            <a:solidFill>
              <a:srgbClr val="2F3C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96696" y="1508760"/>
            <a:ext cx="914400" cy="256032"/>
          </a:xfrm>
          <a:prstGeom prst="roundRect">
            <a:avLst/>
          </a:prstGeom>
          <a:solidFill>
            <a:srgbClr val="34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D4DEEF"/>
                </a:solidFill>
                <a:latin typeface="Microsoft YaHei"/>
              </a:rPr>
              <a:t>CODE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3272" y="1837944"/>
            <a:ext cx="10094976" cy="4151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霍兰德职业测评   →   职业兴趣画像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     ↓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简历上传解析     →   学生能力画像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     ↓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岗位画像生成     →   人岗智能匹配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     ↓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职业图谱展示     →   职业规划报告（流式生成）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rc 15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核心架构亮点 SSE 流式报告生成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81380" y="14300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68680" y="14173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78408" y="1508760"/>
            <a:ext cx="10204704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4984" y="1545336"/>
            <a:ext cx="326550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设计点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90217" y="1545336"/>
            <a:ext cx="670145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实现方式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4984" y="1947672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流式输出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90217" y="1947672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GenerateCareerReportStream 返回 &lt;-chan string 内容通道 + &lt;-chan error 错误通道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14984" y="2478024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4984" y="2514600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SSE 推送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90217" y="2514600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Go http.ResponseWriter 手动写 data: 帧，w.(http.Flusher).Flush() 实时刷新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14984" y="3044952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4984" y="3081528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超时控制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90217" y="3081528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Report 路由组设置 rest.WithTimeout(60s)，AI 客户端设置独立 Timeout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14984" y="3611880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4984" y="3648456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前端对接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90217" y="3648456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自定义 fetchSSE(url, options, onMessage) 携带 Authorization Header（原生 EventSource 无法自定义 Header）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rc 15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功能一 岗位画像构建（AI 驱动）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81380" y="14300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68680" y="1417320"/>
            <a:ext cx="10424160" cy="4663440"/>
          </a:xfrm>
          <a:prstGeom prst="roundRect">
            <a:avLst>
              <a:gd name="adj" fmla="val 12000"/>
            </a:avLst>
          </a:prstGeom>
          <a:solidFill>
            <a:srgbClr val="1F2937"/>
          </a:solidFill>
          <a:ln w="12700">
            <a:solidFill>
              <a:srgbClr val="2F3C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96696" y="1508760"/>
            <a:ext cx="914400" cy="256032"/>
          </a:xfrm>
          <a:prstGeom prst="roundRect">
            <a:avLst/>
          </a:prstGeom>
          <a:solidFill>
            <a:srgbClr val="34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D4DEEF"/>
                </a:solidFill>
                <a:latin typeface="Microsoft YaHei"/>
              </a:rPr>
              <a:t>CODE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272" y="1837944"/>
            <a:ext cx="10094976" cy="4151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输入：positionName + industry + rawData（可选）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↓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构造 Prompt → 调用 DeepSeek API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↓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AI 输出结构化岗位画像（JSON）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↓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持久化写入 jobs 表（skills / softSkills / certificates / requirements 等字段）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rc 15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功能二 职业图谱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44220" y="13385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31520" y="13258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093460" y="13385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080760" y="13258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1572768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可视化展示职业晋升路径与横向转型可能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数据表： job_promotion_paths（from_job_id, to_job_id, match_score, transfer_skills, learning_path）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• API 模块（internal/handler/graph/）：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1572768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前端可视化： 使用 ECharts Graph 渲染岗位关系图，节点为岗位，边权重为 match_score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价值： 让学生看清“我现在在哪、能去哪、怎么去”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rc 15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功能二 职业图谱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81380" y="14300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68680" y="14173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78408" y="1508760"/>
            <a:ext cx="10204704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4984" y="1545336"/>
            <a:ext cx="326550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接口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90217" y="1545336"/>
            <a:ext cx="670145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路径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4984" y="1947672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获取晋升路径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90217" y="1947672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GET /api/v1/jobs/:id/promotion-path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14984" y="2478024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4984" y="2514600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获取换岗路径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90217" y="2514600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GET /api/v1/jobs/:id/transfer-paths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14984" y="3044952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4984" y="3081528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获取相关岗位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90217" y="3081528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GET /api/v1/jobs/:id/related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14984" y="3611880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4984" y="3648456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获取全路径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90217" y="3648456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GET /api/v1/jobs/:id/all-paths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rc 15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功能三 学生画像构建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81380" y="14300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68680" y="14173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78408" y="1508760"/>
            <a:ext cx="10204704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4984" y="1545336"/>
            <a:ext cx="326550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方式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90217" y="1545336"/>
            <a:ext cx="670145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流程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4984" y="1947672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简历上传（PDF/Word）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90217" y="1947672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POST /api/v1/students/resume → 后端 file_parser.go 解析文件内容 → 构造 Prompt → DeepSeek 结构化提取 → 写入 students + resume_parse_history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14984" y="2478024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4984" y="2514600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手动填写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90217" y="2514600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POST /api/v1/students → 直接写入结构化数据 → POST /api/v1/students/generate AI 补全推断能力评分</a:t>
            </a:r>
          </a:p>
        </p:txBody>
      </p:sp>
      <p:pic>
        <p:nvPicPr>
          <p:cNvPr id="33" name="Picture 32" descr="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1389888"/>
            <a:ext cx="1828800" cy="1616790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rc 15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功能四 人岗匹配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81380" y="14300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68680" y="1417320"/>
            <a:ext cx="10424160" cy="4663440"/>
          </a:xfrm>
          <a:prstGeom prst="roundRect">
            <a:avLst>
              <a:gd name="adj" fmla="val 12000"/>
            </a:avLst>
          </a:prstGeom>
          <a:solidFill>
            <a:srgbClr val="1F2937"/>
          </a:solidFill>
          <a:ln w="12700">
            <a:solidFill>
              <a:srgbClr val="2F3C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96696" y="1508760"/>
            <a:ext cx="914400" cy="256032"/>
          </a:xfrm>
          <a:prstGeom prst="roundRect">
            <a:avLst/>
          </a:prstGeom>
          <a:solidFill>
            <a:srgbClr val="34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D4DEEF"/>
                </a:solidFill>
                <a:latin typeface="Microsoft YaHei"/>
              </a:rPr>
              <a:t>CODE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272" y="1837944"/>
            <a:ext cx="10094976" cy="4151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学生画像（skills / softSkills / certificates / internship）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↓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与岗位要求逐维度比对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↓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四维度加权评分：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① skills_match      — 技能覆盖率（含 required 技能权重）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② certs_match       — 证书匹配度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③ soft_skills_match — 五维软技能差异换算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rc 15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功能五 职业规划报告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81380" y="14300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68680" y="14173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78408" y="1508760"/>
            <a:ext cx="10204704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4984" y="1545336"/>
            <a:ext cx="326550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字段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90217" y="1545336"/>
            <a:ext cx="670145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内容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4984" y="1947672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overview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90217" y="1947672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个人优势与竞争力概述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14984" y="2478024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4984" y="2514600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match_analysis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90217" y="2514600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与目标岗位的 Gap 分析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14984" y="3044952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4984" y="3081528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career_path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90217" y="3081528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短期 / 中期 / 长期发展路径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14984" y="3611880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4984" y="3648456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action_plan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90217" y="3648456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具体行动建议（课程 / 证书 / 项目）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rc 15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功能五 职业规划报告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81380" y="14300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68680" y="1417320"/>
            <a:ext cx="10424160" cy="4663440"/>
          </a:xfrm>
          <a:prstGeom prst="roundRect">
            <a:avLst>
              <a:gd name="adj" fmla="val 12000"/>
            </a:avLst>
          </a:prstGeom>
          <a:solidFill>
            <a:srgbClr val="1F2937"/>
          </a:solidFill>
          <a:ln w="12700">
            <a:solidFill>
              <a:srgbClr val="2F3C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96696" y="1508760"/>
            <a:ext cx="914400" cy="256032"/>
          </a:xfrm>
          <a:prstGeom prst="roundRect">
            <a:avLst/>
          </a:prstGeom>
          <a:solidFill>
            <a:srgbClr val="34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D4DEEF"/>
                </a:solidFill>
                <a:latin typeface="Microsoft YaHei"/>
              </a:rPr>
              <a:t>CODE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272" y="1837944"/>
            <a:ext cx="10094976" cy="4151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人岗匹配结果 + 学生画像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POST /api/v1/reports/generate（同步）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或 GET /api/v1/reports/generate-stream（SSE 流式）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构造 Prompt（StudentProfile + Options）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DeepSeek API stream=true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报告写入 career_reports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学生在线查看 / 编辑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POST /api/v1/reports/polish（AI 润色）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rc 15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AI 技术深度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81380" y="14300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68680" y="14173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78408" y="1508760"/>
            <a:ext cx="10204704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4984" y="1545336"/>
            <a:ext cx="326550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功能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90217" y="1545336"/>
            <a:ext cx="670145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Prompt 策略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4984" y="1947672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岗位画像生成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90217" y="1947672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HR 分析师角色 + 结构化输出要求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14984" y="2478024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4984" y="2514600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简历解析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90217" y="2514600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严格 JSON 格式约束 + education 枚举限制 + 禁止 Markdown 代码块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14984" y="3044952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4984" y="3081528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匹配分析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90217" y="3081528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Student Profile + Job Profile 双输入 + 差距建议输出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14984" y="3611880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4984" y="3648456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报告生成（流式）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90217" y="3648456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stream=true；逐行解析 SSE 帧；通过 channel 传递内容块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14984" y="4178808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4984" y="4215384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AI 润色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90217" y="4215384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传入原始报告内容，输出专业化表达</a:t>
            </a:r>
          </a:p>
        </p:txBody>
      </p:sp>
      <p:pic>
        <p:nvPicPr>
          <p:cNvPr id="42" name="Picture 41" descr="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1389888"/>
            <a:ext cx="1828800" cy="1616790"/>
          </a:xfrm>
          <a:prstGeom prst="rect">
            <a:avLst/>
          </a:prstGeom>
        </p:spPr>
      </p:pic>
      <p:sp>
        <p:nvSpPr>
          <p:cNvPr id="43" name="Rectangle 42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rc 15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AI 技术深度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81380" y="14300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68680" y="1417320"/>
            <a:ext cx="10424160" cy="4663440"/>
          </a:xfrm>
          <a:prstGeom prst="roundRect">
            <a:avLst>
              <a:gd name="adj" fmla="val 12000"/>
            </a:avLst>
          </a:prstGeom>
          <a:solidFill>
            <a:srgbClr val="1F2937"/>
          </a:solidFill>
          <a:ln w="12700">
            <a:solidFill>
              <a:srgbClr val="2F3C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96696" y="1508760"/>
            <a:ext cx="914400" cy="256032"/>
          </a:xfrm>
          <a:prstGeom prst="roundRect">
            <a:avLst/>
          </a:prstGeom>
          <a:solidFill>
            <a:srgbClr val="34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D4DEEF"/>
                </a:solidFill>
                <a:latin typeface="Microsoft YaHei"/>
              </a:rPr>
              <a:t>CODE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272" y="1837944"/>
            <a:ext cx="10094976" cy="4151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type AIProvider interface {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  GenerateJobProfile(ctx context.Context, prompt string) (string, error)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  GenerateStudentProfile(ctx context.Context, resumeContent string) (string, error)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  MatchAnalysis(ctx context.Context, studentProfile, jobProfile string) (string, error)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  GenerateCareerReport(ctx context.Context, req ReportGenerationRequest) (string, error)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  GenerateCareerReportStream(ctx context.Context, req ReportGenerationRequest) (&lt;-chan string, &lt;-chan error)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}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rc 15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数据安全与质量保障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81380" y="14300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68680" y="14173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78408" y="1508760"/>
            <a:ext cx="10204704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4984" y="1545336"/>
            <a:ext cx="326550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层面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90217" y="1545336"/>
            <a:ext cx="670145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措施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4984" y="1947672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密码存储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90217" y="1947672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golang.org/x/crypto/bcrypt 哈希，不存明文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14984" y="2478024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4984" y="2514600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认证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90217" y="2514600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JWT（golang-jwt/jwt v5），Auth.AccessSecret + AccessExpire 配置化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14984" y="3044952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4984" y="3081528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授权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90217" y="3081528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中间件校验 JWT，userId/role 注入上下文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14984" y="3611880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4984" y="3648456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数据隔离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90217" y="3648456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核心逻辑基于当前登录用户读取画像与报告，避免越权访问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14984" y="4178808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4984" y="4215384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跨域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90217" y="4215384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服务启用 CORS（go-zero rest.WithCors()）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14984" y="4745736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14984" y="4782312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稳定性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90217" y="4782312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路由级超时控制（match 30s / report 60s / interview 120s）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173736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9718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3524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00684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18120" y="15544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321040" y="20116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464040" y="274320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388620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Arc 19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81380" y="14300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68680" y="14173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78408" y="1508760"/>
            <a:ext cx="10204704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4" y="1545336"/>
            <a:ext cx="326550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层次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90217" y="1545336"/>
            <a:ext cx="670145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技术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4" y="1947672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框架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90217" y="1947672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React 19 + TypeScript 5.9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14984" y="2478024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4984" y="2514600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构建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90217" y="2514600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Vite 8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14984" y="3044952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4984" y="3081528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组件库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90217" y="3081528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Ant Design 6 + antd-mobile 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4984" y="3611880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4984" y="3648456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样式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90217" y="3648456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Tailwind CSS 4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14984" y="4178808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14984" y="4215384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状态管理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90217" y="4215384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Zustand 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14984" y="4745736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14984" y="4782312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图表可视化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90217" y="4782312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ECharts 6 + echarts-for-react + @ant-design/charts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rc 15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部署与运维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81380" y="14300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68680" y="1417320"/>
            <a:ext cx="10424160" cy="4663440"/>
          </a:xfrm>
          <a:prstGeom prst="roundRect">
            <a:avLst>
              <a:gd name="adj" fmla="val 12000"/>
            </a:avLst>
          </a:prstGeom>
          <a:solidFill>
            <a:srgbClr val="1F2937"/>
          </a:solidFill>
          <a:ln w="12700">
            <a:solidFill>
              <a:srgbClr val="2F3C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96696" y="1508760"/>
            <a:ext cx="914400" cy="256032"/>
          </a:xfrm>
          <a:prstGeom prst="roundRect">
            <a:avLst/>
          </a:prstGeom>
          <a:solidFill>
            <a:srgbClr val="34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D4DEEF"/>
                </a:solidFill>
                <a:latin typeface="Microsoft YaHei"/>
              </a:rPr>
              <a:t>CODE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272" y="1837944"/>
            <a:ext cx="10094976" cy="4151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go run /home/runner/work/Job-manner-review-system/Job-manner-review-system/career.go -f etc/career-api.yaml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rc 15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总结与展望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81380" y="14300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68680" y="14173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78408" y="1508760"/>
            <a:ext cx="10204704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4984" y="1545336"/>
            <a:ext cx="326550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模块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90217" y="1545336"/>
            <a:ext cx="670145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完成度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4984" y="1947672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用户认证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90217" y="1947672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✅ 100%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14984" y="2478024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4984" y="2514600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职业图谱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90217" y="2514600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✅ 100%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14984" y="3044952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4984" y="3081528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学生管理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90217" y="3081528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🟡 90%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14984" y="3611880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4984" y="3648456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岗位管理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90217" y="3648456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🟡 90%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14984" y="4178808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4984" y="4215384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智能匹配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90217" y="4215384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🟡 80%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14984" y="4745736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14984" y="4782312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报告生成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90217" y="4782312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🟡 80%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rc 15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感谢页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44220" y="13385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31520" y="13258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093460" y="13385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080760" y="13258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1572768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Thank You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CareerPlanner — 让每个学生的职业规划，都有 AI 同行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• 感谢各位评委与观众的聆听与指导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1572768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项目仓库：github.com/swordreforge/Job-manner-review-system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其余 2 项已整合到现场讲解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