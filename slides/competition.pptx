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81380" y="1109980"/>
            <a:ext cx="10424160" cy="480060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097280"/>
            <a:ext cx="10424160" cy="4800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43000" y="1417320"/>
            <a:ext cx="1828800" cy="475488"/>
          </a:xfrm>
          <a:prstGeom prst="roundRect">
            <a:avLst/>
          </a:prstGeom>
          <a:solidFill>
            <a:srgbClr val="E8F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F6FED"/>
                </a:solidFill>
                <a:latin typeface="Microsoft YaHei"/>
              </a:rPr>
              <a:t>A类赛道路演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011680"/>
            <a:ext cx="7498079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11827"/>
                </a:solidFill>
                <a:latin typeface="Microsoft YaHei"/>
              </a:rPr>
              <a:t>CareerPlanner — 基于 AI 的职业规划智能系统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84048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Microsoft YaHei"/>
              </a:rPr>
              <a:t>用 AI 连接学生能力与岗位要求，让每个学生都有专属的数据驱动型职业导师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42300" y="1841500"/>
            <a:ext cx="2697480" cy="256032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1828800"/>
            <a:ext cx="2697480" cy="2560320"/>
          </a:xfrm>
          <a:prstGeom prst="roundRect">
            <a:avLst/>
          </a:prstGeom>
          <a:solidFill>
            <a:srgbClr val="FBFC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11827"/>
                </a:solidFill>
                <a:latin typeface="Microsoft YaHei"/>
              </a:rPr>
              <a:t>队伍</a:t>
            </a:r>
            <a:br/>
            <a:r>
              <a:t>我们叫什么名字</a:t>
            </a:r>
          </a:p>
          <a:p>
            <a:r>
              <a:rPr sz="1200" b="0">
                <a:solidFill>
                  <a:srgbClr val="4B5563"/>
                </a:solidFill>
                <a:latin typeface="Microsoft YaHei"/>
              </a:rPr>
              <a:t>学校</a:t>
            </a:r>
            <a:br/>
            <a:r>
              <a:t>浙江师范大学</a:t>
            </a:r>
          </a:p>
          <a:p>
            <a:r>
              <a:rPr sz="1200" b="0">
                <a:solidFill>
                  <a:srgbClr val="4B5563"/>
                </a:solidFill>
                <a:latin typeface="Microsoft YaHei"/>
              </a:rPr>
              <a:t>赛道</a:t>
            </a:r>
            <a:br/>
            <a:r>
              <a:t>A类</a:t>
            </a:r>
          </a:p>
        </p:txBody>
      </p:sp>
      <p:pic>
        <p:nvPicPr>
          <p:cNvPr id="14" name="Picture 13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886200"/>
            <a:ext cx="2011680" cy="17784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封面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项目名称： CareerPlanner — 基于 AI 的职业规划智能系统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一句话定位： 用 AI 连接学生能力与岗位要求，让每个学生都有专属的数据驱动型职业导师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关键技术 logo： Go · go-zero · DeepSeek API · React 19 · MySQL · Redis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pic>
        <p:nvPicPr>
          <p:cNvPr id="14" name="Picture 13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痛点分析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Why：为什么做这个系统？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结论： 学生需要一个 智能化、个性化、可量化 的职业规划系统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痛点分析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痛点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现状描述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信息不对称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学生不了解目标岗位的真实技能要求与竞争力阈值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规划盲目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职业规划缺乏数据支撑，靠“感觉”选方向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资源稀缺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职业咨询师资源有限，无法覆盖每位学生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反馈滞后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传统简历评估周期长，学生无法快速迭代提升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自我认知缺位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学生不了解自身兴趣类型与岗位的匹配关系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竞品对比与差异化优势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Why us：现有方案为何不够？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CareerPlanner 差异化：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竞品对比与差异化优势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方案类型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代表产品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传统职业咨询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学校就业中心、付费生涯规划师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招聘平台简历评估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Boss直聘、智联招聘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通用 AI 对话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ChatGPT、DeepSeek Chat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单一测评工具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各类霍兰德测试网站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解决方案总览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What：我们做了什么？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CareerPlanner 七大核心能力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面向学生：自我测评 → 简历解析 → 岗位匹配 → 图谱探索 → 报告生成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面向管理员：岗位数据管理 → AI 画像批量生成 → 图谱构建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完整用户旅程：自我认知 → 能力评估 → 职业探索 → 智能匹配 → 规划报告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解决方案总览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霍兰德职业测评   →   职业兴趣画像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 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简历上传解析     →   学生能力画像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 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岗位画像生成     →   人岗智能匹配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 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职业图谱展示     →   职业规划报告（流式生成）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系统架构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430020"/>
            <a:ext cx="10698480" cy="470916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98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How：系统怎么搭建的？</a:t>
            </a:r>
          </a:p>
        </p:txBody>
      </p:sp>
      <p:sp>
        <p:nvSpPr>
          <p:cNvPr id="13" name="Chevron 12"/>
          <p:cNvSpPr/>
          <p:nvPr/>
        </p:nvSpPr>
        <p:spPr>
          <a:xfrm>
            <a:off x="170992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46988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240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两服务解耦：前端专注交互，后端专注业务 + AI 调度，AI 能力通过 OpenAI 兼容接口调用 DeepSeek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系统架构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┌─────────────────────────────────────────┐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React 19 + TypeScript + Vite 8        │  ← 前端（:5173）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Ant Design · ECharts · Zustand         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学生端 / 管理端                        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└──────────────┬──────────────────────────┘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           │ HTTP / SSE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┌──────────────▼──────────────────────────┐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   Go + go-zero (v1.6.4)              │  ← 后端（:8088）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REST API · JWT 认证 · SSE 推送         │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│   MySQL 8.0（数据持久化）                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6 页 — 核心架构亮点：SSE 流式报告生成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1371600" cy="548640"/>
          </a:xfrm>
          <a:prstGeom prst="roundRect">
            <a:avLst/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6FED"/>
                </a:solidFill>
                <a:latin typeface="Microsoft YaHe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9326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11827"/>
                </a:solidFill>
                <a:latin typeface="Microsoft YaHei"/>
              </a:rPr>
              <a:t>第 6 页 — 核心架构亮点：SSE 流式报告生成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Microsoft YaHei"/>
              </a:rPr>
              <a:t>LLM 调用耗时长，流式架构保障用户体验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6 页 — 核心架构亮点：SSE 流式报告生成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设计点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实现方式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流式输出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GenerateCareerReportStream 返回 &lt;-chan string 内容通道 + &lt;-chan error 错误通道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SSE 推送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Go http.ResponseWriter 手动写 data: 帧，w.(http.Flusher).Flush() 实时刷新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超时控制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Report 路由组设置 rest.WithTimeout(60s)，AI 客户端设置独立 Timeout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前端对接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自定义 fetchSSE(url, options, onMessage) 携带 Authorization Header（原生 EventSource 无法自定义 Header）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6 页 — 核心架构亮点：SSE 流式报告生成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用户点击“生成报告”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POST /api/v1/reports/generate（同步生成）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或 GET /api/v1/reports/generate-stream（SSE 流式）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Go Handler 构造 Prompt（学生画像 + 选项）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调用 DeepSeek API（stream=true）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bufio.Reader 逐行读取 SSE data: 帧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实时向前端 SSE 推送 event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前端 fetchSSE 解析 data: 行并增量展示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7 页 — 功能一：岗位画像构建（AI 驱动）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430020"/>
            <a:ext cx="10698480" cy="470916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98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将岗位名称转化为结构化能力模型</a:t>
            </a:r>
          </a:p>
        </p:txBody>
      </p:sp>
      <p:sp>
        <p:nvSpPr>
          <p:cNvPr id="13" name="Chevron 12"/>
          <p:cNvSpPr/>
          <p:nvPr/>
        </p:nvSpPr>
        <p:spPr>
          <a:xfrm>
            <a:off x="170992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API： POST /api/v1/jobs/generate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644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流程：</a:t>
            </a:r>
          </a:p>
        </p:txBody>
      </p:sp>
      <p:sp>
        <p:nvSpPr>
          <p:cNvPr id="19" name="Chevron 18"/>
          <p:cNvSpPr/>
          <p:nvPr/>
        </p:nvSpPr>
        <p:spPr>
          <a:xfrm>
            <a:off x="637336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59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7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画像数据模型（jobs 字段示意）：</a:t>
            </a:r>
          </a:p>
        </p:txBody>
      </p:sp>
      <p:sp>
        <p:nvSpPr>
          <p:cNvPr id="22" name="Chevron 21"/>
          <p:cNvSpPr/>
          <p:nvPr/>
        </p:nvSpPr>
        <p:spPr>
          <a:xfrm>
            <a:off x="8705087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6988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配套接口：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7 页 — 功能一：岗位画像构建（AI 驱动）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输入：positionName + industry + rawData（可选）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构造 Prompt → 调用 DeepSeek API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AI 输出结构化岗位画像（JSON）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持久化写入 jobs 表（skills / softSkills / certificates / requirements 等字段）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8 页 — 功能二：职业图谱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可视化展示职业晋升路径与横向转型可能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数据表： job_promotion_paths（from_job_id, to_job_id, match_score, transfer_skills, learning_path）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API 模块（internal/handler/graph/）：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前端可视化： 使用 ECharts Graph 渲染岗位关系图，节点为岗位，边权重为 match_score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价值： 让学生看清“我现在在哪、能去哪、怎么去”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8 页 — 功能二：职业图谱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路径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获取晋升路径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GET /api/v1/jobs/:id/promotion-path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获取换岗路径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GET /api/v1/jobs/:id/transfer-paths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获取相关岗位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GET /api/v1/jobs/:id/related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获取全路径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GET /api/v1/jobs/:id/all-paths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9 页 — 功能三：学生画像构建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多渠道录入 + AI 能力拆解，精准描述学生竞争力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两种录入方式：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画像维度（students 表）：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解析历史： GET /api/v1/students/resume/history — 记录每次简历上传解析结果，支持回溯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9 页 — 功能三：学生画像构建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流程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简历上传（PDF/Word）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POST /api/v1/students/resume → 后端 file_parser.go 解析文件内容 → 构造 Prompt → DeepSeek 结构化提取 → 写入 students + resume_parse_history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手动填写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POST /api/v1/students → 直接写入结构化数据 → POST /api/v1/students/generate AI 补全推断能力评分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10 页 — 功能四：人岗匹配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四维度量化分析，精准推荐匹配岗位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匹配算法（internal/logic/matchlogic.go + internal/logic/match/）：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API 模块：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前端展示： ECharts 雷达图展示多维度得分，差距分析列表展示提升建议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pic>
        <p:nvPicPr>
          <p:cNvPr id="14" name="Picture 13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10 页 — 功能四：人岗匹配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接口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说明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POST /api/v1/match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匹配单个岗位，返回四维度分 + gap 分析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POST /api/v1/match/jobs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批量匹配（分页 + minScore + industry 过滤）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GET /api/v1/match/:studentId/recommend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获取推荐岗位列表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GET /api/v1/match/:studentId/:jobId/score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查询历史匹配分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10 页 — 功能四：人岗匹配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学生画像（skills / softSkills / certificates / internship）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与岗位要求逐维度比对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四维度加权评分：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① skills_match      — 技能覆盖率（含 required 技能权重）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② certs_match       — 证书匹配度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③ soft_skills_match — 五维软技能差异换算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④ experience_match  — 基于完整度/竞争力等经验指标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11 页 — 功能五：职业规划报告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430020"/>
            <a:ext cx="10698480" cy="470916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98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从数据到报告，支持流式生成与 AI 润色</a:t>
            </a:r>
          </a:p>
        </p:txBody>
      </p:sp>
      <p:sp>
        <p:nvSpPr>
          <p:cNvPr id="13" name="Chevron 12"/>
          <p:cNvSpPr/>
          <p:nvPr/>
        </p:nvSpPr>
        <p:spPr>
          <a:xfrm>
            <a:off x="170992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报告生成流程：</a:t>
            </a:r>
          </a:p>
        </p:txBody>
      </p:sp>
      <p:sp>
        <p:nvSpPr>
          <p:cNvPr id="16" name="Chevron 15"/>
          <p:cNvSpPr/>
          <p:nvPr/>
        </p:nvSpPr>
        <p:spPr>
          <a:xfrm>
            <a:off x="481888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报告数据模型（career_reports 主要字段）：</a:t>
            </a:r>
          </a:p>
        </p:txBody>
      </p:sp>
      <p:sp>
        <p:nvSpPr>
          <p:cNvPr id="19" name="Chevron 18"/>
          <p:cNvSpPr/>
          <p:nvPr/>
        </p:nvSpPr>
        <p:spPr>
          <a:xfrm>
            <a:off x="792784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完整性检查： GET /api/v1/reports/:id/completeness — 检测报告完整度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11 页 — 功能五：职业规划报告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字段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个人优势与竞争力概述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match_analysis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与目标岗位的 Gap 分析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career_path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短期 / 中期 / 长期发展路径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action_plan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具体行动建议（课程 / 证书 / 项目）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11 页 — 功能五：职业规划报告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人岗匹配结果 + 学生画像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POST /api/v1/reports/generate（同步）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或 GET /api/v1/reports/generate-stream（SSE 流式）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构造 Prompt（StudentProfile + Options）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DeepSeek API stream=true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报告写入 career_reports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学生在线查看 / 编辑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POST /api/v1/reports/polish（AI 润色）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POST /api/v1/reports/export（导出）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12 页 — 功能六：霍兰德职业倾向测试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430020"/>
            <a:ext cx="10698480" cy="470916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98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科学自我认知的起点，RIASEC 模型量化职业兴趣</a:t>
            </a:r>
          </a:p>
        </p:txBody>
      </p:sp>
      <p:sp>
        <p:nvSpPr>
          <p:cNvPr id="13" name="Chevron 12"/>
          <p:cNvSpPr/>
          <p:nvPr/>
        </p:nvSpPr>
        <p:spPr>
          <a:xfrm>
            <a:off x="170992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25196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测试流程：</a:t>
            </a:r>
          </a:p>
        </p:txBody>
      </p:sp>
      <p:sp>
        <p:nvSpPr>
          <p:cNvPr id="16" name="Chevron 15"/>
          <p:cNvSpPr/>
          <p:nvPr/>
        </p:nvSpPr>
        <p:spPr>
          <a:xfrm>
            <a:off x="481888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6092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1344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数据模型（holland_test_results 表）：</a:t>
            </a:r>
          </a:p>
        </p:txBody>
      </p:sp>
      <p:sp>
        <p:nvSpPr>
          <p:cNvPr id="19" name="Chevron 18"/>
          <p:cNvSpPr/>
          <p:nvPr/>
        </p:nvSpPr>
        <p:spPr>
          <a:xfrm>
            <a:off x="792784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46988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2240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前端： ECharts 雷达图可视化六维度得分；GET /api/v1/holland/history 查看历史记录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12 页 — 功能六：霍兰德职业倾向测试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GET /api/v1/holland/questions（获取题目）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学生作答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POST /api/v1/holland/submit（提交答案）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后端计算 RIASEC 六维得分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生成职业代码（如 RIA、SEC）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匹配推荐职业列表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写入 holland_test_results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→ 返回雷达图数据 + 职业推荐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13 页 — AI 技术深度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DeepSeek API 深度集成 + OpenAI 兼容接口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AIProvider 接口设计（common/pkg/ai_provider.go）：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Prompt 工程：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可配置性（internal/config/config.go）：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支持切换任意 OpenAI-compatible 供应商（DeepSeek / OpenAI / Qwen 等）</a:t>
            </a:r>
          </a:p>
        </p:txBody>
      </p:sp>
      <p:pic>
        <p:nvPicPr>
          <p:cNvPr id="15" name="Picture 14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13 页 — AI 技术深度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功能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Prompt 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岗位画像生成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HR 分析师角色 + 结构化输出要求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简历解析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严格 JSON 格式约束 + education 枚举限制 + 禁止 Markdown 代码块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匹配分析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Student Profile + Job Profile 双输入 + 差距建议输出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报告生成（流式）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stream=true；逐行解析 SSE 帧；通过 channel 传递内容块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AI 润色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传入原始报告内容，输出专业化表达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13 页 — AI 技术深度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type AIProvider interface {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GenerateJobProfile(ctx context.Context, prompt string) (string, error)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GenerateStudentProfile(ctx context.Context, resumeContent string) (string, error)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MatchAnalysis(ctx context.Context, studentProfile, jobProfile string) (string, error)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GenerateCareerReport(ctx context.Context, req ReportGenerationRequest) (string, error)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  GenerateCareerReportStream(ctx context.Context, req ReportGenerationRequest) (&lt;-chan string, &lt;-chan error)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14 页 — 数据库设计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核心表覆盖完整业务链路（含面试模块扩展）：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数据质量保障：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UNIQUE 约束（username）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JSON/TEXT 字段入库前进行结构化解析与校验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服务启动时 career.go 内置自动建表/结构同步（autoMigrate）</a:t>
            </a:r>
          </a:p>
        </p:txBody>
      </p:sp>
      <p:pic>
        <p:nvPicPr>
          <p:cNvPr id="15" name="Picture 14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14 页 — 数据库设计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users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 1:1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students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  ↓ 1:N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career_reports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match_records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resume_parse_history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holland_test_results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/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jobs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15 页 — 数据安全与质量保障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安全可信赖，质量有保障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安全机制：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质量保障：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AI 输出要求结构化 JSON，解析失败有兜底处理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单元测试覆盖：internal/handler/user/handler_validation_test.go、internal/middleware/*test.go、internal/model/*_test.go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简历解析历史持久化，便于回溯与问题定位</a:t>
            </a:r>
          </a:p>
        </p:txBody>
      </p:sp>
      <p:pic>
        <p:nvPicPr>
          <p:cNvPr id="15" name="Picture 14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15 页 — 数据安全与质量保障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层面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措施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密码存储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golang.org/x/crypto/bcrypt 哈希，不存明文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认证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JWT（golang-jwt/jwt v5），Auth.AccessSecret + AccessExpire 配置化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授权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中间件校验 JWT，userId/role 注入上下文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数据隔离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核心逻辑基于当前登录用户读取画像与报告，避免越权访问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跨域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服务启用 CORS（go-zero rest.WithCors()）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745736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478231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稳定性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217" y="478231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路由级超时控制（match 30s / report 60s / interview 120s）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16 页 — 界面展示（1/2）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现代化 React UI，流畅的用户体验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前端技术栈（high-school-worker-design-forend/package.json）：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关键页面（src/pages/）：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Auth/ — 登录 / 注册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Home/ — 首页/入口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Profile/ — 学生画像详情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Resume/ — 简历上传与 AI 解析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Holland/ — 霍兰德测试 / 结果 / 历史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16 页 — 界面展示（2/2）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78638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78638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572768"/>
            <a:ext cx="7406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Plan/ — 职业规划报告（流式生成）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111827"/>
                </a:solidFill>
                <a:latin typeface="Microsoft YaHei"/>
              </a:rPr>
              <a:t>• Interview/ — 模拟面试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Student/ — 学生信息管理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600" b="0">
                <a:solidFill>
                  <a:srgbClr val="4B5563"/>
                </a:solidFill>
                <a:latin typeface="Microsoft YaHei"/>
              </a:rPr>
              <a:t>• Jobs/ — 岗位与职业路径图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36660" y="1338580"/>
            <a:ext cx="26060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23960" y="1325880"/>
            <a:ext cx="2606040" cy="4892040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技术插图区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16 页 — 界面展示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层次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技术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React 19 + TypeScript 5.9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Vite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组件库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Ant Design 6 + antd-mobile 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样式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Tailwind CSS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状态管理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Zustand 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745736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478231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图表可视化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217" y="478231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ECharts 6 + echarts-for-react + @ant-design/charts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17 页 — 技术亮点总结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68680" y="1691640"/>
            <a:ext cx="1371600" cy="548640"/>
          </a:xfrm>
          <a:prstGeom prst="roundRect">
            <a:avLst/>
          </a:prstGeom>
          <a:solidFill>
            <a:srgbClr val="E9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2F6FED"/>
                </a:solidFill>
                <a:latin typeface="Microsoft YaHei"/>
              </a:rPr>
              <a:t>SECTION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93268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111827"/>
                </a:solidFill>
                <a:latin typeface="Microsoft YaHei"/>
              </a:rPr>
              <a:t>第 17 页 — 技术亮点总结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4B5563"/>
                </a:solidFill>
                <a:latin typeface="Microsoft YaHei"/>
              </a:rPr>
              <a:t>核心创新点一览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17 页 — 技术亮点总结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#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亮点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SSE 流式报告生成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OpenAI-Compatible AI 接口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四维度人岗匹配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简历全链路解析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霍兰德职业倾向测试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745736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478231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217" y="478231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职业图谱系统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部署与运维（1/2）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轻量部署，快速上手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服务启动（后端）：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一键脚本（仓库提供）：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start-all-services.sh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stop-all-services.sh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restart-all-services.sh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依赖服务：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环境配置（示意）：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部署与运维（2/2）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运维友好：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配置集中化（YAML + 环境变量）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go-zero 日志体系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健康检查：GET /api/v1/health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内置数据库自动建表与结构同步（career.go:autoMigrate）</a:t>
            </a:r>
          </a:p>
        </p:txBody>
      </p:sp>
      <p:pic>
        <p:nvPicPr>
          <p:cNvPr id="15" name="Picture 14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部署与运维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>
              <a:gd name="adj" fmla="val 12000"/>
            </a:avLst>
          </a:prstGeom>
          <a:solidFill>
            <a:srgbClr val="1F2937"/>
          </a:solidFill>
          <a:ln w="12700">
            <a:solidFill>
              <a:srgbClr val="2F3C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" y="1508760"/>
            <a:ext cx="914400" cy="256032"/>
          </a:xfrm>
          <a:prstGeom prst="roundRect">
            <a:avLst/>
          </a:prstGeom>
          <a:solidFill>
            <a:srgbClr val="3442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4DEEF"/>
                </a:solidFill>
                <a:latin typeface="Microsoft YaHei"/>
              </a:rPr>
              <a:t>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1837944"/>
            <a:ext cx="10094976" cy="415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200"/>
              </a:spcAft>
            </a:pPr>
            <a:r>
              <a:rPr sz="1100">
                <a:solidFill>
                  <a:srgbClr val="E7EFFF"/>
                </a:solidFill>
                <a:latin typeface="Consolas"/>
              </a:rPr>
              <a:t>go run /home/runner/work/Job-manner-review-system/Job-manner-review-system/career.go -f etc/career-api.yaml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19 页 — 总结与展望（1/2）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项目价值回顾 + 未来扩展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项目价值：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对学生： AI 职业导师式陪伴，形成可执行、可追踪的成长路径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对学校： 标准化学生画像与就业辅导数据沉淀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对社会： 提升人才供需匹配效率，降低错配成本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技术成果：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REST API 覆盖用户、岗位、学生、匹配、报告、霍兰德、图谱、面试等模块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多个 AI 场景落地（岗位画像、简历解析、匹配分析、报告生成/流式/润色、路径分析）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19 页 — 总结与展望（2/2）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430020"/>
            <a:ext cx="10698480" cy="470916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417320"/>
            <a:ext cx="1069848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4300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SSE 流式架构用于长耗时生成任务</a:t>
            </a:r>
          </a:p>
        </p:txBody>
      </p:sp>
      <p:sp>
        <p:nvSpPr>
          <p:cNvPr id="13" name="Chevron 12"/>
          <p:cNvSpPr/>
          <p:nvPr/>
        </p:nvSpPr>
        <p:spPr>
          <a:xfrm>
            <a:off x="170992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7472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单元测试覆盖 handler/middleware/model 关键层</a:t>
            </a:r>
          </a:p>
        </p:txBody>
      </p:sp>
      <p:sp>
        <p:nvSpPr>
          <p:cNvPr id="16" name="Chevron 15"/>
          <p:cNvSpPr/>
          <p:nvPr/>
        </p:nvSpPr>
        <p:spPr>
          <a:xfrm>
            <a:off x="404164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0644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当前完成度（参考 docs/项目优势分析.md）：</a:t>
            </a:r>
          </a:p>
        </p:txBody>
      </p:sp>
      <p:sp>
        <p:nvSpPr>
          <p:cNvPr id="19" name="Chevron 18"/>
          <p:cNvSpPr/>
          <p:nvPr/>
        </p:nvSpPr>
        <p:spPr>
          <a:xfrm>
            <a:off x="6373368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138159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90687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未来展望：</a:t>
            </a:r>
          </a:p>
        </p:txBody>
      </p:sp>
      <p:sp>
        <p:nvSpPr>
          <p:cNvPr id="22" name="Chevron 21"/>
          <p:cNvSpPr/>
          <p:nvPr/>
        </p:nvSpPr>
        <p:spPr>
          <a:xfrm>
            <a:off x="8705087" y="3044952"/>
            <a:ext cx="914400" cy="155448"/>
          </a:xfrm>
          <a:prstGeom prst="chevron">
            <a:avLst/>
          </a:prstGeom>
          <a:solidFill>
            <a:srgbClr val="B8C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469880" y="2880360"/>
            <a:ext cx="475488" cy="47548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22408" y="3474720"/>
            <a:ext cx="1234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Microsoft YaHei"/>
              </a:rPr>
              <a:t>接入实时岗位数据源，扩充岗位知识库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19 页 — 总结与展望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1380" y="1430020"/>
            <a:ext cx="10424160" cy="46634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417320"/>
            <a:ext cx="1042416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78408" y="1508760"/>
            <a:ext cx="10204704" cy="384048"/>
          </a:xfrm>
          <a:prstGeom prst="rect">
            <a:avLst/>
          </a:prstGeom>
          <a:solidFill>
            <a:srgbClr val="EC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4984" y="1545336"/>
            <a:ext cx="326550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模块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90217" y="1545336"/>
            <a:ext cx="670145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F6FED"/>
                </a:solidFill>
                <a:latin typeface="Microsoft YaHei"/>
              </a:rPr>
              <a:t>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" y="194767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用户认证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0217" y="194767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✅ 100%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" y="2478024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4984" y="2514600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职业图谱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0217" y="2514600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✅ 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" y="3044952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" y="3081528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学生管理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90217" y="3081528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🟡 90%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14984" y="3611880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" y="3648456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岗位管理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90217" y="3648456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🟡 90%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14984" y="4178808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4" y="4215384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智能匹配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90217" y="4215384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🟡 80%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14984" y="4745736"/>
            <a:ext cx="10131552" cy="9144"/>
          </a:xfrm>
          <a:prstGeom prst="rect">
            <a:avLst/>
          </a:prstGeom>
          <a:solidFill>
            <a:srgbClr val="E3E8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" y="4782312"/>
            <a:ext cx="3265505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11827"/>
                </a:solidFill>
                <a:latin typeface="Microsoft YaHei"/>
              </a:rPr>
              <a:t>报告生成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90217" y="4782312"/>
            <a:ext cx="6701454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B5563"/>
                </a:solidFill>
                <a:latin typeface="Microsoft YaHei"/>
              </a:rPr>
              <a:t>🟡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56032" y="320040"/>
            <a:ext cx="18288" cy="329184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6032" y="320040"/>
            <a:ext cx="420624" cy="1828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75720" y="320040"/>
            <a:ext cx="420624" cy="18288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78056" y="320040"/>
            <a:ext cx="18288" cy="32918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4048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Microsoft YaHei"/>
              </a:rPr>
              <a:t>第 20 页 — 感谢页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069848"/>
            <a:ext cx="2926080" cy="27432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422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093460" y="1338580"/>
            <a:ext cx="5349240" cy="4892040"/>
          </a:xfrm>
          <a:prstGeom prst="roundRect">
            <a:avLst/>
          </a:prstGeom>
          <a:solidFill>
            <a:srgbClr val="E9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80760" y="1325880"/>
            <a:ext cx="5349240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AB4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Thank You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CareerPlanner — 让每个学生的职业规划，都有 AI 同行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感谢各位评委与观众的聆听与指导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72768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项目仓库：github.com/swordreforge/Job-manner-review-system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11827"/>
                </a:solidFill>
                <a:latin typeface="Microsoft YaHei"/>
              </a:rPr>
              <a:t>• 技术栈：Go · go-zero · DeepSeek API · React 19 · TypeScript · Ant Design · ECharts · MySQL · Redis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4B5563"/>
                </a:solidFill>
                <a:latin typeface="Microsoft YaHei"/>
              </a:rPr>
              <a:t>• 欢迎提问与交流</a:t>
            </a:r>
          </a:p>
        </p:txBody>
      </p:sp>
      <p:pic>
        <p:nvPicPr>
          <p:cNvPr id="15" name="Picture 14" descr="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325880"/>
            <a:ext cx="1920240" cy="169763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640080" y="6345936"/>
            <a:ext cx="10911535" cy="9144"/>
          </a:xfrm>
          <a:prstGeom prst="rect">
            <a:avLst/>
          </a:prstGeom>
          <a:solidFill>
            <a:srgbClr val="AAB4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6473952"/>
            <a:ext cx="7772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4B5563"/>
                </a:solidFill>
                <a:latin typeface="Microsoft YaHei"/>
              </a:rPr>
              <a:t>队伍：我们叫什么名字  ·  学校：浙江师范大学  ·  赛道：A类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77295" y="6473952"/>
            <a:ext cx="3657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B5563"/>
                </a:solidFill>
                <a:latin typeface="Microsoft YaHei"/>
              </a:rPr>
              <a:t>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